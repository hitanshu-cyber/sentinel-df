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JetBrains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D1A446-18FC-40A4-9D64-1965D6B62B9B}">
  <a:tblStyle styleId="{ACD1A446-18FC-40A4-9D64-1965D6B62B9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JetBrainsMono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italic.fntdata"/><Relationship Id="rId25" Type="http://schemas.openxmlformats.org/officeDocument/2006/relationships/font" Target="fonts/JetBrainsMono-bold.fntdata"/><Relationship Id="rId27" Type="http://schemas.openxmlformats.org/officeDocument/2006/relationships/font" Target="fonts/JetBrains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49.png"/><Relationship Id="rId6" Type="http://schemas.openxmlformats.org/officeDocument/2006/relationships/image" Target="../media/image1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48.png"/><Relationship Id="rId7" Type="http://schemas.openxmlformats.org/officeDocument/2006/relationships/image" Target="../media/image13.png"/><Relationship Id="rId8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8.png"/><Relationship Id="rId9" Type="http://schemas.openxmlformats.org/officeDocument/2006/relationships/image" Target="../media/image46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Relationship Id="rId5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30.png"/><Relationship Id="rId5" Type="http://schemas.openxmlformats.org/officeDocument/2006/relationships/image" Target="../media/image39.png"/><Relationship Id="rId6" Type="http://schemas.openxmlformats.org/officeDocument/2006/relationships/image" Target="../media/image45.png"/><Relationship Id="rId7" Type="http://schemas.openxmlformats.org/officeDocument/2006/relationships/image" Target="../media/image37.png"/><Relationship Id="rId8" Type="http://schemas.openxmlformats.org/officeDocument/2006/relationships/image" Target="../media/image4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Relationship Id="rId10" Type="http://schemas.openxmlformats.org/officeDocument/2006/relationships/image" Target="../media/image36.png"/><Relationship Id="rId9" Type="http://schemas.openxmlformats.org/officeDocument/2006/relationships/image" Target="../media/image34.png"/><Relationship Id="rId5" Type="http://schemas.openxmlformats.org/officeDocument/2006/relationships/image" Target="../media/image33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hyperlink" Target="https://github.com/Hitanshu-cyber/sentinel-df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Relationship Id="rId6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0025" y="4353817"/>
            <a:ext cx="19050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5525" y="4353817"/>
            <a:ext cx="2076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181350" y="2180332"/>
            <a:ext cx="5829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STATUS: PRODUCTION READY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035617" y="2645122"/>
            <a:ext cx="612076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SENTINEL-DF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81350" y="3607147"/>
            <a:ext cx="58293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Autonomous Edge-Based Deepfake Detection System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5300" y="4496692"/>
            <a:ext cx="13144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0" y="4496692"/>
            <a:ext cx="148590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33575"/>
            <a:ext cx="4943475" cy="2594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718595"/>
            <a:ext cx="4943475" cy="2594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5" y="581025"/>
            <a:ext cx="4990623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Mission Critical Capabilities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81025" y="581025"/>
            <a:ext cx="47625" cy="9715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518070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828675" y="2695575"/>
            <a:ext cx="467058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Edge-First Design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28675" y="3286125"/>
            <a:ext cx="44481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Runs natively on smartphones and body-cams with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100% offline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capability. Zero cloud dependencies ensuring operation in signal-denied environments.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28675" y="5480595"/>
            <a:ext cx="467058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Fail-Secure Architecture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28675" y="6071145"/>
            <a:ext cx="4448175" cy="7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Production-hardened design with rigorous adversarial testing. Includes chain-of-custody logging for judicial admissibility.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220980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499482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04938"/>
            <a:ext cx="254317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4700" y="2604938"/>
            <a:ext cx="254317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957488"/>
            <a:ext cx="254317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4700" y="3957488"/>
            <a:ext cx="254317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334125" y="2354609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Optimization Strategy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334125" y="2802284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Achieved through aggressive quantization and architecture tuning: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328737" y="2804963"/>
            <a:ext cx="104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0F9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71.7%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00125" y="3262163"/>
            <a:ext cx="17049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ACCURACY (TEST BATCH)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062412" y="2804963"/>
            <a:ext cx="104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0F9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~50ms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3833812" y="3262163"/>
            <a:ext cx="15049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INFERENCE TIME (CPU)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19187" y="4157513"/>
            <a:ext cx="1466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0F9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14.2 MB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452562" y="4614713"/>
            <a:ext cx="800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 SIZE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3852862" y="4157513"/>
            <a:ext cx="1466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0F9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&lt;200 MB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191000" y="4614713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RAM USAGE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572250" y="3541365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Architecture: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(Transfer Learning)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572250" y="3929955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 Resolution: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224x224x3 RGB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572250" y="4318545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Optimization: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Quantized TFLite format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572250" y="4707135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Frame Throttling: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~12 FPS processed (1 in 5 frames) to reduce battery drain by 80%.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334125" y="354136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43825" y="3550890"/>
            <a:ext cx="11620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6334125" y="392995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334125" y="431854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334125" y="470713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71525" y="48577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System Performance Metrics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33612"/>
            <a:ext cx="5395912" cy="3257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2233612"/>
            <a:ext cx="5395912" cy="3257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828675" y="2995612"/>
            <a:ext cx="5145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Model Training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462712" y="2995612"/>
            <a:ext cx="5145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Python Backend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675" y="25098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1066800" y="3414712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Base: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MobileNetV2 (ImageNet Pretrained)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66800" y="3803302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Dataset: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21.8k Images (5.2k Real, 16.5k Fake)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066800" y="4191892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Augmentation: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Rotation, Zoom, Brightness, Flip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066800" y="4580483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Loss Function:</a:t>
            </a:r>
            <a:endParaRPr/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2712" y="25098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6700837" y="3414712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Python 3.8+, TensorFlow 2.19.0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700837" y="3803302"/>
            <a:ext cx="466248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Processing: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OpenCV 4.8.0+ for Haar Cascade Face Extraction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700837" y="4466183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Pipeline: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Auto-export to TFLite + Keras H5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700837" y="4854773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Supports .mp4, .avi, .mov batch processing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28675" y="34147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28675" y="380330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28675" y="419189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28675" y="458048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33625" y="4590008"/>
            <a:ext cx="19240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6462712" y="34147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462712" y="380330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462712" y="446618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462712" y="485477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771525" y="48577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Machine Learning Architecture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093940"/>
            <a:ext cx="11029950" cy="62478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581025" y="2177504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System behavior under simulated field stress conditions:</a:t>
            </a:r>
            <a:endParaRPr/>
          </a:p>
        </p:txBody>
      </p:sp>
      <p:graphicFrame>
        <p:nvGraphicFramePr>
          <p:cNvPr id="175" name="Google Shape;175;p17"/>
          <p:cNvGraphicFramePr/>
          <p:nvPr/>
        </p:nvGraphicFramePr>
        <p:xfrm>
          <a:off x="581025" y="27375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{ACD1A446-18FC-40A4-9D64-1965D6B62B9B}</a:tableStyleId>
              </a:tblPr>
              <a:tblGrid>
                <a:gridCol w="3308900"/>
                <a:gridCol w="4411850"/>
                <a:gridCol w="3309200"/>
              </a:tblGrid>
              <a:tr h="51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 Scenario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Condition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Deepfake Injection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test batch injection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71.7% Confidence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Low Light Sabotage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Luminance &lt; 30/255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ACC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Warning Triggered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Physical Occlusion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Sensor blocked / Face partial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60A5F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Fail-Secure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17"/>
          <p:cNvSpPr txBox="1"/>
          <p:nvPr/>
        </p:nvSpPr>
        <p:spPr>
          <a:xfrm>
            <a:off x="809625" y="5284440"/>
            <a:ext cx="10610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Security Note: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system defaults to a 'Fail-Secure' state, preventing false authentications when data quality is compromised.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581025" y="3085207"/>
            <a:ext cx="33088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3889920" y="3085207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8301781" y="3085207"/>
            <a:ext cx="33091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581025" y="3654772"/>
            <a:ext cx="330889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3889920" y="3654772"/>
            <a:ext cx="441186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301781" y="3654772"/>
            <a:ext cx="33091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581025" y="4224337"/>
            <a:ext cx="330889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3889920" y="4224337"/>
            <a:ext cx="441186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8301781" y="4224337"/>
            <a:ext cx="33091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581025" y="4793902"/>
            <a:ext cx="330889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889920" y="4793902"/>
            <a:ext cx="441186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8301781" y="4793902"/>
            <a:ext cx="33091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771525" y="48577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Robustness &amp; Validation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738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581025" y="2165151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Tactical User Experience</a:t>
            </a:r>
            <a:endParaRPr/>
          </a:p>
        </p:txBody>
      </p:sp>
      <p:pic>
        <p:nvPicPr>
          <p:cNvPr descr="image.png" id="198" name="Google Shape;19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66912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819150" y="2584251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Framework: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Flutter 3.0+ / Dart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819150" y="2972841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Inference: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819150" y="3361432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Visuals: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Dark theme optimized for low-light tactical environments.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819150" y="4024312"/>
            <a:ext cx="5038725" cy="1421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HUD: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581025" y="2584251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581025" y="2972841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pic>
        <p:nvPicPr>
          <p:cNvPr descr="image.png" id="205" name="Google Shape;20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33550" y="2982366"/>
            <a:ext cx="22098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581025" y="336143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581025" y="40243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1152525" y="4393852"/>
            <a:ext cx="470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Confidence Meter Visualization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1152525" y="4782442"/>
            <a:ext cx="470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Instant AUTHENTIC/DEEPFAKE Verdict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1152525" y="5171033"/>
            <a:ext cx="470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Lip Sync &amp; Skin Texture Indicators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914400" y="439385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914400" y="478244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914400" y="517103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771525" y="48577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Mobile Interface (Flutter)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27982"/>
            <a:ext cx="3517850" cy="2868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7000" y="2427982"/>
            <a:ext cx="3517850" cy="2868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975" y="2427982"/>
            <a:ext cx="3517850" cy="286881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828675" y="3189982"/>
            <a:ext cx="31736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Environmental Awareness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828675" y="3780532"/>
            <a:ext cx="30225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Automatic brightness analysis checks for luminance &lt;30/255. Proactively suggests Infrared Mode to the operative.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4584650" y="3189982"/>
            <a:ext cx="31736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Quality Gatekeeping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4584650" y="3780532"/>
            <a:ext cx="30225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validation of face detection confidence, image resolution, and sensor occlusion before processing.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8340625" y="3189982"/>
            <a:ext cx="31736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Visual Artifact Scoring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8340625" y="3780532"/>
            <a:ext cx="30225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Provides granular feedback on specific fail points: Lip Sync errors, Skin Texture anomalies, and Blending artifacts.</a:t>
            </a:r>
            <a:endParaRPr/>
          </a:p>
        </p:txBody>
      </p:sp>
      <p:pic>
        <p:nvPicPr>
          <p:cNvPr descr="image.png" id="230" name="Google Shape;23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2704207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4650" y="270420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0625" y="270420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 txBox="1"/>
          <p:nvPr/>
        </p:nvSpPr>
        <p:spPr>
          <a:xfrm>
            <a:off x="771525" y="48577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Cognitive Assistance Features</a:t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57387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966912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6334125" y="2738437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Court-Admissible Evidence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572250" y="3157537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Cryptographic Logging: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SHA-256 hashing of all events.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572250" y="3546127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Tamper-Proofing: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Immutable audit trail of every scan.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572250" y="3934717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Secure Export: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JSON generation including metadata, timestamps, and model version hashes.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572250" y="4597598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Evidence packages generated directly on-device.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334125" y="315753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334125" y="354612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6334125" y="393471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334125" y="459759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771525" y="48577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Forensic Integrity</a:t>
            </a: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67383"/>
            <a:ext cx="5276850" cy="339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67383"/>
            <a:ext cx="5276850" cy="3390007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6629400" y="2462658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DevOps &amp; Tooling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867525" y="2881758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Version Control: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Git + Git LFS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867525" y="3270349"/>
            <a:ext cx="4448175" cy="137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Packaging: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867525" y="4758035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Platforms: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Android, Linux (Dev), iOS (Compatible)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629400" y="288175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629400" y="3270349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629400" y="475803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7105650" y="3592264"/>
            <a:ext cx="4210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(3.7 MB) - Mobile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7105650" y="3980854"/>
            <a:ext cx="4210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(14 MB) - Training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7105650" y="4369444"/>
            <a:ext cx="4210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- Android Build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6867525" y="3592264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pic>
        <p:nvPicPr>
          <p:cNvPr descr="image.png" id="271" name="Google Shape;27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5650" y="3601789"/>
            <a:ext cx="7810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 txBox="1"/>
          <p:nvPr/>
        </p:nvSpPr>
        <p:spPr>
          <a:xfrm>
            <a:off x="6867525" y="3980854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pic>
        <p:nvPicPr>
          <p:cNvPr descr="image.png" id="273" name="Google Shape;27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5650" y="3990379"/>
            <a:ext cx="4000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 txBox="1"/>
          <p:nvPr/>
        </p:nvSpPr>
        <p:spPr>
          <a:xfrm>
            <a:off x="6867525" y="4369444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pic>
        <p:nvPicPr>
          <p:cNvPr descr="image.png" id="275" name="Google Shape;27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05650" y="4378969"/>
            <a:ext cx="4953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/>
          <p:nvPr/>
        </p:nvSpPr>
        <p:spPr>
          <a:xfrm>
            <a:off x="771525" y="48577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Deployment Architecture</a:t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3" name="Google Shape;283;p22"/>
          <p:cNvGraphicFramePr/>
          <p:nvPr/>
        </p:nvGraphicFramePr>
        <p:xfrm>
          <a:off x="581025" y="2438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{ACD1A446-18FC-40A4-9D64-1965D6B62B9B}</a:tableStyleId>
              </a:tblPr>
              <a:tblGrid>
                <a:gridCol w="2757475"/>
                <a:gridCol w="8272450"/>
              </a:tblGrid>
              <a:tr h="56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ML Frameworks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TensorFlow 2.19.0, TFLite 2.14.0+, Keras 2.19.0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Computer Vision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OpenCV 4.8.0+, Haar Cascade, BlazeFace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Mobile Dev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Flutter 3.0+, Dart, tflite_flutter, image_picker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Python Stack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3.8+, NumPy, SciPy, Pillow, FFmpeg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Web (Experimental)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TensorFlow.js 4.20.0, PWA Service Workers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4" name="Google Shape;284;p22"/>
          <p:cNvSpPr/>
          <p:nvPr/>
        </p:nvSpPr>
        <p:spPr>
          <a:xfrm>
            <a:off x="581025" y="2993677"/>
            <a:ext cx="27574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3338512" y="2993677"/>
            <a:ext cx="82724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581025" y="3563242"/>
            <a:ext cx="27574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3338512" y="3563242"/>
            <a:ext cx="82724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581025" y="4132808"/>
            <a:ext cx="27574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3338512" y="4132808"/>
            <a:ext cx="82724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581025" y="4702373"/>
            <a:ext cx="27574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3338512" y="4702373"/>
            <a:ext cx="82724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581025" y="5271938"/>
            <a:ext cx="27574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3338512" y="5271938"/>
            <a:ext cx="82724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771525" y="48577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Complete Technology Stack</a:t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26940"/>
            <a:ext cx="2578893" cy="2870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8043" y="2426940"/>
            <a:ext cx="2578893" cy="2870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426940"/>
            <a:ext cx="2578893" cy="2870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32081" y="2426940"/>
            <a:ext cx="2578893" cy="287074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828675" y="3188940"/>
            <a:ext cx="21877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100% Offline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828675" y="3779490"/>
            <a:ext cx="2083593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cloud dependencies. True edge computing security.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3645693" y="3188940"/>
            <a:ext cx="218777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Low-Power Optimized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3645693" y="4055715"/>
            <a:ext cx="2083593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Intelligent frame throttling reduces CPU load by 80%.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6462712" y="3188940"/>
            <a:ext cx="21877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Chain of Custody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6462712" y="3779490"/>
            <a:ext cx="2083593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SHA-256 cryptographic logging for evidence integrity.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9279731" y="3188940"/>
            <a:ext cx="21877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Adversarial Tested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9279731" y="3779490"/>
            <a:ext cx="2083593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Validated against deepfake injection and low-light sabotage.</a:t>
            </a:r>
            <a:endParaRPr/>
          </a:p>
        </p:txBody>
      </p:sp>
      <p:pic>
        <p:nvPicPr>
          <p:cNvPr descr="image.png" id="313" name="Google Shape;31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270316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45693" y="270316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62712" y="2703165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79731" y="270316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771525" y="48577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Key Differentiators</a:t>
            </a:r>
            <a:endParaRPr/>
          </a:p>
        </p:txBody>
      </p:sp>
      <p:sp>
        <p:nvSpPr>
          <p:cNvPr id="318" name="Google Shape;318;p23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298602"/>
            <a:ext cx="11029950" cy="67434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4"/>
          <p:cNvSpPr txBox="1"/>
          <p:nvPr/>
        </p:nvSpPr>
        <p:spPr>
          <a:xfrm>
            <a:off x="305276" y="1885057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Q&amp;A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581025" y="3228082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SENTINEL-DF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781050" y="4498627"/>
            <a:ext cx="10629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https://github.com/Hitanshu-cyber/sentinel-df</a:t>
            </a:r>
            <a:endParaRPr sz="135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5"/>
          <p:cNvSpPr/>
          <p:nvPr/>
        </p:nvSpPr>
        <p:spPr>
          <a:xfrm>
            <a:off x="581025" y="2491829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581025" y="347469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 txBox="1"/>
          <p:nvPr/>
        </p:nvSpPr>
        <p:spPr>
          <a:xfrm>
            <a:off x="581025" y="2490876"/>
            <a:ext cx="85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36" name="Google Shape;336;p25"/>
          <p:cNvSpPr/>
          <p:nvPr/>
        </p:nvSpPr>
        <p:spPr>
          <a:xfrm>
            <a:off x="581025" y="346516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581025" y="346516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 txBox="1"/>
          <p:nvPr/>
        </p:nvSpPr>
        <p:spPr>
          <a:xfrm>
            <a:off x="581025" y="3473737"/>
            <a:ext cx="85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39" name="Google Shape;339;p25"/>
          <p:cNvSpPr/>
          <p:nvPr/>
        </p:nvSpPr>
        <p:spPr>
          <a:xfrm>
            <a:off x="581025" y="424993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581025" y="424993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 txBox="1"/>
          <p:nvPr/>
        </p:nvSpPr>
        <p:spPr>
          <a:xfrm>
            <a:off x="581025" y="4258508"/>
            <a:ext cx="85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pic>
        <p:nvPicPr>
          <p:cNvPr descr="image.png" id="342" name="Google Shape;3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4037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5"/>
          <p:cNvSpPr txBox="1"/>
          <p:nvPr/>
        </p:nvSpPr>
        <p:spPr>
          <a:xfrm>
            <a:off x="1676400" y="2634704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https://birminghamcontrolcentre.co.uk/uploads/2025/10/split-view-of-infrared-camera-grayscale-and-thermal-heat-map-of-a-backyard.-seeing-in-the-dark-without-light-practical-night-vision-techniques-tools.webp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1676400" y="307850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birminghamcontrolcentre.co.uk</a:t>
            </a:r>
            <a:endParaRPr/>
          </a:p>
        </p:txBody>
      </p:sp>
      <p:pic>
        <p:nvPicPr>
          <p:cNvPr descr="image.png" id="345" name="Google Shape;34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6241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5"/>
          <p:cNvSpPr txBox="1"/>
          <p:nvPr/>
        </p:nvSpPr>
        <p:spPr>
          <a:xfrm>
            <a:off x="1676400" y="361756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https://cdn.prod.website-files.com/67fd2c83be0cd4f397b3a2b2/6841814bd62fc8932a7a1ddc_iPhone%2016%20(1).png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1676400" y="386328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www.revel8.ai</a:t>
            </a:r>
            <a:endParaRPr/>
          </a:p>
        </p:txBody>
      </p:sp>
      <p:pic>
        <p:nvPicPr>
          <p:cNvPr descr="image.png" id="348" name="Google Shape;34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50800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 txBox="1"/>
          <p:nvPr/>
        </p:nvSpPr>
        <p:spPr>
          <a:xfrm>
            <a:off x="1676400" y="4402335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https://media.istockphoto.com/id/1813253153/vector/cyber-security-solid-icons-containing-malware-hacker-spyware-data-security-icons-collection.jpg?s=612x612&amp;w=0&amp;k=20&amp;c=f9uszrYuTvYkhVy0Gc-ybVJ22QBEy5sAx4Kra6jzbKE=</a:t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1676400" y="484614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sp>
        <p:nvSpPr>
          <p:cNvPr id="351" name="Google Shape;351;p25"/>
          <p:cNvSpPr txBox="1"/>
          <p:nvPr/>
        </p:nvSpPr>
        <p:spPr>
          <a:xfrm>
            <a:off x="771525" y="48577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52" name="Google Shape;352;p25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